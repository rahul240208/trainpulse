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22960" y="987552"/>
            <a:ext cx="164592" cy="0"/>
          </a:xfrm>
          <a:prstGeom prst="bentConnector3">
            <a:avLst/>
          </a:prstGeom>
          <a:ln w="381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987552" y="784555"/>
            <a:ext cx="109728" cy="202997"/>
          </a:xfrm>
          <a:prstGeom prst="bentConnector3">
            <a:avLst/>
          </a:prstGeom>
          <a:ln w="381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784555"/>
            <a:ext cx="146304" cy="422453"/>
          </a:xfrm>
          <a:prstGeom prst="bentConnector3">
            <a:avLst/>
          </a:prstGeom>
          <a:ln w="381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243584" y="729691"/>
            <a:ext cx="128016" cy="477317"/>
          </a:xfrm>
          <a:prstGeom prst="bentConnector3">
            <a:avLst/>
          </a:prstGeom>
          <a:ln w="381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371600" y="729691"/>
            <a:ext cx="109728" cy="230429"/>
          </a:xfrm>
          <a:prstGeom prst="bentConnector3">
            <a:avLst/>
          </a:prstGeom>
          <a:ln w="381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81328" y="960120"/>
            <a:ext cx="256032" cy="0"/>
          </a:xfrm>
          <a:prstGeom prst="bentConnector3">
            <a:avLst/>
          </a:prstGeom>
          <a:ln w="381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554480" y="850392"/>
            <a:ext cx="146304" cy="146304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4519" y="713232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1F5F9"/>
                </a:solidFill>
                <a:latin typeface="Segoe UI"/>
              </a:rPr>
              <a:t>Train</a:t>
            </a:r>
            <a:r>
              <a:rPr sz="2200" b="1">
                <a:solidFill>
                  <a:srgbClr val="22D3EE"/>
                </a:solidFill>
                <a:latin typeface="Segoe UI"/>
              </a:rPr>
              <a:t>Pulse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2860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D3EE"/>
                </a:solidFill>
                <a:latin typeface="Segoe UI"/>
              </a:rPr>
              <a:t>REAL-TIME RAILWAY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9748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800" b="1">
                <a:solidFill>
                  <a:srgbClr val="F1F5F9"/>
                </a:solidFill>
                <a:latin typeface="Segoe UI"/>
              </a:rPr>
              <a:t>Train</a:t>
            </a:r>
            <a:r>
              <a:rPr sz="7800" b="1">
                <a:solidFill>
                  <a:srgbClr val="22D3EE"/>
                </a:solidFill>
                <a:latin typeface="Segoe UI"/>
              </a:rPr>
              <a:t>Pulse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206240"/>
            <a:ext cx="96012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9FB0C2"/>
                </a:solidFill>
                <a:latin typeface="Segoe UI"/>
              </a:rPr>
              <a:t>A cross-platform, map-first live train tracking companion for Indian Railways — strict TypeScript, Expo / React Native Web, and a secure Hono backend gateway.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486400"/>
            <a:ext cx="1056132" cy="384048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486400"/>
            <a:ext cx="105613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Android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43684" y="5486400"/>
            <a:ext cx="672084" cy="384048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43684" y="5486400"/>
            <a:ext cx="6720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iOS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80360" y="5486400"/>
            <a:ext cx="672084" cy="384048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80360" y="5486400"/>
            <a:ext cx="67208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Web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17036" y="5486400"/>
            <a:ext cx="2208276" cy="384048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17036" y="5486400"/>
            <a:ext cx="220827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TypeScript (strict)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89904" y="5486400"/>
            <a:ext cx="2112264" cy="384048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9904" y="5486400"/>
            <a:ext cx="211226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Truthful Telemetry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PROJECT ANALYSIS &amp; OVERVIEW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640080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Segoe UI"/>
              </a:rPr>
              <a:t>01</a:t>
            </a:r>
            <a:r>
              <a:rPr sz="1100" b="0">
                <a:solidFill>
                  <a:srgbClr val="64748B"/>
                </a:solidFill>
                <a:latin typeface="Segoe UI"/>
              </a:rPr>
              <a:t>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Segoe UI"/>
              </a:rPr>
              <a:t>THE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256032" cy="256032"/>
          </a:xfrm>
          <a:prstGeom prst="round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1887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1F5F9"/>
                </a:solidFill>
                <a:latin typeface="Segoe UI"/>
              </a:rPr>
              <a:t>Railway apps are cluttered &amp; untrustworthy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288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9FB0C2"/>
                </a:solidFill>
                <a:latin typeface="Segoe UI"/>
              </a:rPr>
              <a:t>Most apps bury the one thing passengers want — where is my train right now? — under ticketing, PNR, ads, and plain text lists.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3332378" cy="3200400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944368"/>
            <a:ext cx="293004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D3EE"/>
                </a:solidFill>
                <a:latin typeface="Segoe UI"/>
              </a:rPr>
              <a:t>Feature bloat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" y="3419856"/>
            <a:ext cx="2930042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FB0C2"/>
                </a:solidFill>
                <a:latin typeface="Segoe UI"/>
              </a:rPr>
              <a:t>Ticketing, PNR, seat maps and ads crowd out the core live-tracking use case.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9658" y="2743200"/>
            <a:ext cx="3332378" cy="3200400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0826" y="2944368"/>
            <a:ext cx="293004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D3EE"/>
                </a:solidFill>
                <a:latin typeface="Segoe UI"/>
              </a:rPr>
              <a:t>No spatial awareness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0826" y="3419856"/>
            <a:ext cx="2930042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FB0C2"/>
                </a:solidFill>
                <a:latin typeface="Segoe UI"/>
              </a:rPr>
              <a:t>Location shown as textual lists instead of an intuitive map-based view.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6356" y="2743200"/>
            <a:ext cx="3332378" cy="3200400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37524" y="2944368"/>
            <a:ext cx="293004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B020"/>
                </a:solidFill>
                <a:latin typeface="Segoe UI"/>
              </a:rPr>
              <a:t>Fabricated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7524" y="3419856"/>
            <a:ext cx="2930042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FB0C2"/>
                </a:solidFill>
                <a:latin typeface="Segoe UI"/>
              </a:rPr>
              <a:t>Estimates presented as fact — users can't tell a real GPS fix from a guess.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00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TRAINPULSE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640080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Segoe UI"/>
              </a:rPr>
              <a:t>02</a:t>
            </a:r>
            <a:r>
              <a:rPr sz="1100" b="0">
                <a:solidFill>
                  <a:srgbClr val="64748B"/>
                </a:solidFill>
                <a:latin typeface="Segoe UI"/>
              </a:rPr>
              <a:t>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Segoe UI"/>
              </a:rPr>
              <a:t>THE SOLUTION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256032" cy="256032"/>
          </a:xfrm>
          <a:prstGeom prst="round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1887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1F5F9"/>
                </a:solidFill>
                <a:latin typeface="Segoe UI"/>
              </a:rPr>
              <a:t>A map-first, truthful live companion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19456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FB0C2"/>
                </a:solidFill>
                <a:latin typeface="Segoe UI"/>
              </a:rPr>
              <a:t>A </a:t>
            </a:r>
            <a:r>
              <a:rPr sz="1600" b="1">
                <a:solidFill>
                  <a:srgbClr val="F1F5F9"/>
                </a:solidFill>
                <a:latin typeface="Segoe UI"/>
              </a:rPr>
              <a:t>map is the primary interface</a:t>
            </a:r>
            <a:r>
              <a:rPr sz="1600" b="0">
                <a:solidFill>
                  <a:srgbClr val="9FB0C2"/>
                </a:solidFill>
                <a:latin typeface="Segoe UI"/>
              </a:rPr>
              <a:t> — search overlaid on a live route map.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907792"/>
            <a:ext cx="146304" cy="146304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81635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B020"/>
                </a:solidFill>
                <a:latin typeface="Segoe UI"/>
              </a:rPr>
              <a:t>Truthful telemetry: </a:t>
            </a:r>
            <a:r>
              <a:rPr sz="1600" b="0">
                <a:solidFill>
                  <a:srgbClr val="9FB0C2"/>
                </a:solidFill>
                <a:latin typeface="Segoe UI"/>
              </a:rPr>
              <a:t>every position tagged ACTUAL_GPS vs ESTIMATED_SCHEDULE — never synthesized.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621024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529584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9FB0C2"/>
                </a:solidFill>
                <a:latin typeface="Segoe UI"/>
              </a:rPr>
              <a:t>One codebase → </a:t>
            </a:r>
            <a:r>
              <a:rPr sz="1600" b="1">
                <a:solidFill>
                  <a:srgbClr val="F1F5F9"/>
                </a:solidFill>
                <a:latin typeface="Segoe UI"/>
              </a:rPr>
              <a:t>Android, iOS &amp; Web parity</a:t>
            </a:r>
            <a:r>
              <a:rPr sz="1600" b="0">
                <a:solidFill>
                  <a:srgbClr val="9FB0C2"/>
                </a:solidFill>
                <a:latin typeface="Segoe UI"/>
              </a:rPr>
              <a:t> via Expo + React Native Web.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334256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242816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1F5F9"/>
                </a:solidFill>
                <a:latin typeface="Segoe UI"/>
              </a:rPr>
              <a:t>Backend caching &amp; coalescing</a:t>
            </a:r>
            <a:r>
              <a:rPr sz="1600" b="0">
                <a:solidFill>
                  <a:srgbClr val="9FB0C2"/>
                </a:solidFill>
                <a:latin typeface="Segoe UI"/>
              </a:rPr>
              <a:t> protect upstream quotas and keep loads sub-second.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5047488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4956048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1F5F9"/>
                </a:solidFill>
                <a:latin typeface="Segoe UI"/>
              </a:rPr>
              <a:t>System-aware Dark / Light theming</a:t>
            </a:r>
            <a:r>
              <a:rPr sz="1600" b="0">
                <a:solidFill>
                  <a:srgbClr val="9FB0C2"/>
                </a:solidFill>
                <a:latin typeface="Segoe UI"/>
              </a:rPr>
              <a:t> using official TrainPulse brand colors.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00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TRAINPULSE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640080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Segoe UI"/>
              </a:rPr>
              <a:t>03</a:t>
            </a:r>
            <a:r>
              <a:rPr sz="1100" b="0">
                <a:solidFill>
                  <a:srgbClr val="64748B"/>
                </a:solidFill>
                <a:latin typeface="Segoe UI"/>
              </a:rPr>
              <a:t>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Segoe UI"/>
              </a:rPr>
              <a:t>CORE FEATURES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256032" cy="256032"/>
          </a:xfrm>
          <a:prstGeom prst="round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1887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1F5F9"/>
                </a:solidFill>
                <a:latin typeface="Segoe UI"/>
              </a:rPr>
              <a:t>What TrainPulse does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3332378" cy="1783080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304288"/>
            <a:ext cx="293004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D3EE"/>
                </a:solidFill>
                <a:latin typeface="Segoe UI"/>
              </a:rPr>
              <a:t>Journey Search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779776"/>
            <a:ext cx="293004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FB0C2"/>
                </a:solidFill>
                <a:latin typeface="Segoe UI"/>
              </a:rPr>
              <a:t>Where-to-where search between any two stations with debounced autocomplete.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9658" y="2103120"/>
            <a:ext cx="3332378" cy="1783080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0826" y="2304288"/>
            <a:ext cx="293004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D3EE"/>
                </a:solidFill>
                <a:latin typeface="Segoe UI"/>
              </a:rPr>
              <a:t>Live Telemetry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0826" y="2779776"/>
            <a:ext cx="293004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FB0C2"/>
                </a:solidFill>
                <a:latin typeface="Segoe UI"/>
              </a:rPr>
              <a:t>Status, speed, location, next halt, arrival/departure times &amp; delay minutes.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6356" y="2103120"/>
            <a:ext cx="3332378" cy="1783080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7524" y="2304288"/>
            <a:ext cx="293004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D3EE"/>
                </a:solidFill>
                <a:latin typeface="Segoe UI"/>
              </a:rPr>
              <a:t>Interactive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7524" y="2779776"/>
            <a:ext cx="293004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FB0C2"/>
                </a:solidFill>
                <a:latin typeface="Segoe UI"/>
              </a:rPr>
              <a:t>OpenStreetMap + Leaflet route map on Web &amp; Mobile via WebView.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160520"/>
            <a:ext cx="3332378" cy="1783080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361688"/>
            <a:ext cx="293004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B020"/>
                </a:solidFill>
                <a:latin typeface="Segoe UI"/>
              </a:rPr>
              <a:t>Platform Status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4837176"/>
            <a:ext cx="293004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FB0C2"/>
                </a:solidFill>
                <a:latin typeface="Segoe UI"/>
              </a:rPr>
              <a:t>Confirmed / Expected / Unavailable states with freshness timestamps.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9658" y="4160520"/>
            <a:ext cx="3332378" cy="1783080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0826" y="4361688"/>
            <a:ext cx="293004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D3EE"/>
                </a:solidFill>
                <a:latin typeface="Segoe UI"/>
              </a:rPr>
              <a:t>Coach &amp; My Coach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0826" y="4837176"/>
            <a:ext cx="293004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FB0C2"/>
                </a:solidFill>
                <a:latin typeface="Segoe UI"/>
              </a:rPr>
              <a:t>Visual rake layout with a My Coach selector and offline persistence.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6356" y="4160520"/>
            <a:ext cx="3332378" cy="1783080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7524" y="4361688"/>
            <a:ext cx="293004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B020"/>
                </a:solidFill>
                <a:latin typeface="Segoe UI"/>
              </a:rPr>
              <a:t>Zero Fabrication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7524" y="4837176"/>
            <a:ext cx="2930042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FB0C2"/>
                </a:solidFill>
                <a:latin typeface="Segoe UI"/>
              </a:rPr>
              <a:t>Missing GPS is explicitly flagged, never invented.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00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TRAINPULSE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640080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Segoe UI"/>
              </a:rPr>
              <a:t>04</a:t>
            </a:r>
            <a:r>
              <a:rPr sz="1100" b="0">
                <a:solidFill>
                  <a:srgbClr val="64748B"/>
                </a:solidFill>
                <a:latin typeface="Segoe UI"/>
              </a:rPr>
              <a:t>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Segoe UI"/>
              </a:rPr>
              <a:t>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256032" cy="256032"/>
          </a:xfrm>
          <a:prstGeom prst="round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1887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1F5F9"/>
                </a:solidFill>
                <a:latin typeface="Segoe UI"/>
              </a:rPr>
              <a:t>Decoupled client to secure gateway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2514600" cy="914400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F5F9"/>
                </a:solidFill>
                <a:latin typeface="Segoe UI"/>
              </a:rPr>
              <a:t>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Expo / RN Web + Zustand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355848" y="2304288"/>
            <a:ext cx="237744" cy="23774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39312" y="1965960"/>
            <a:ext cx="2514600" cy="914400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76472" y="210312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F5F9"/>
                </a:solidFill>
                <a:latin typeface="Segoe UI"/>
              </a:rPr>
              <a:t>Hono 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6472" y="246888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/api/v1 - Zod validation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6172200" y="2304288"/>
            <a:ext cx="237744" cy="23774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55664" y="1965960"/>
            <a:ext cx="2514600" cy="914400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92824" y="210312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F5F9"/>
                </a:solidFill>
                <a:latin typeface="Segoe UI"/>
              </a:rPr>
              <a:t>Cache + Coalescer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2824" y="246888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30-45s TTL - single-flight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988552" y="2304288"/>
            <a:ext cx="237744" cy="237744"/>
          </a:xfrm>
          <a:prstGeom prst="rightArrow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272016" y="1965960"/>
            <a:ext cx="2514600" cy="914400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09176" y="210312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1F5F9"/>
                </a:solidFill>
                <a:latin typeface="Segoe UI"/>
              </a:rPr>
              <a:t>RailRadar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09176" y="2468880"/>
            <a:ext cx="2240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GPS telemetry (Bearer auth)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291840"/>
            <a:ext cx="3332378" cy="2651760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3493008"/>
            <a:ext cx="293004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D3EE"/>
                </a:solidFill>
                <a:latin typeface="Segoe UI"/>
              </a:rPr>
              <a:t>Secret isolation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" y="3968496"/>
            <a:ext cx="293004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FB0C2"/>
                </a:solidFill>
                <a:latin typeface="Segoe UI"/>
              </a:rPr>
              <a:t>Client bundles contain no API keys — it doesn't even know RailRadar exists.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29658" y="3291840"/>
            <a:ext cx="3332378" cy="2651760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0826" y="3493008"/>
            <a:ext cx="293004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D3EE"/>
                </a:solidFill>
                <a:latin typeface="Segoe UI"/>
              </a:rPr>
              <a:t>Request coalescing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30826" y="3968496"/>
            <a:ext cx="293004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FB0C2"/>
                </a:solidFill>
                <a:latin typeface="Segoe UI"/>
              </a:rPr>
              <a:t>50 clients polling one train = 1 outbound request, broadcast to all.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36356" y="3291840"/>
            <a:ext cx="3332378" cy="2651760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37524" y="3493008"/>
            <a:ext cx="293004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B020"/>
                </a:solidFill>
                <a:latin typeface="Segoe UI"/>
              </a:rPr>
              <a:t>Graceful degradation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7524" y="3968496"/>
            <a:ext cx="2930042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FB0C2"/>
                </a:solidFill>
                <a:latin typeface="Segoe UI"/>
              </a:rPr>
              <a:t>On 429/503, serve stale data with X-Cache: STALE + a freshness warning.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400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TRAINPULSE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640080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Segoe UI"/>
              </a:rPr>
              <a:t>05</a:t>
            </a:r>
            <a:r>
              <a:rPr sz="1100" b="0">
                <a:solidFill>
                  <a:srgbClr val="64748B"/>
                </a:solidFill>
                <a:latin typeface="Segoe UI"/>
              </a:rPr>
              <a:t>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Segoe UI"/>
              </a:rPr>
              <a:t>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256032" cy="256032"/>
          </a:xfrm>
          <a:prstGeom prst="round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1887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1F5F9"/>
                </a:solidFill>
                <a:latin typeface="Segoe UI"/>
              </a:rPr>
              <a:t>Built on a strict, modern toolchain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965960"/>
            <a:ext cx="10515600" cy="566928"/>
          </a:xfrm>
          <a:prstGeom prst="roundRect">
            <a:avLst/>
          </a:prstGeom>
          <a:solidFill>
            <a:srgbClr val="0F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65960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2D3EE"/>
                </a:solidFill>
                <a:latin typeface="Segoe UI"/>
              </a:rPr>
              <a:t>Mobile &amp; Web 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965960"/>
            <a:ext cx="7315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1F5F9"/>
                </a:solidFill>
                <a:latin typeface="Segoe UI"/>
              </a:rPr>
              <a:t>React Native - Expo SDK 57 - Expo Router - React Native 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69464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2D3EE"/>
                </a:solidFill>
                <a:latin typeface="Segoe UI"/>
              </a:rPr>
              <a:t>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69464"/>
            <a:ext cx="7315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1F5F9"/>
                </a:solidFill>
                <a:latin typeface="Segoe UI"/>
              </a:rPr>
              <a:t>TypeScript — strict mode across all packages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172968"/>
            <a:ext cx="10515600" cy="566928"/>
          </a:xfrm>
          <a:prstGeom prst="roundRect">
            <a:avLst/>
          </a:prstGeom>
          <a:solidFill>
            <a:srgbClr val="0F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172968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2D3EE"/>
                </a:solidFill>
                <a:latin typeface="Segoe UI"/>
              </a:rPr>
              <a:t>State &amp; Storage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172968"/>
            <a:ext cx="7315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1F5F9"/>
                </a:solidFill>
                <a:latin typeface="Segoe UI"/>
              </a:rPr>
              <a:t>Zustand - AsyncStorage (offline persistence)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776472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2D3EE"/>
                </a:solidFill>
                <a:latin typeface="Segoe UI"/>
              </a:rPr>
              <a:t>Mapping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3776472"/>
            <a:ext cx="7315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1F5F9"/>
                </a:solidFill>
                <a:latin typeface="Segoe UI"/>
              </a:rPr>
              <a:t>Leaflet.js - OpenStreetMap - CartoDB tiles - react-native-webview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379976"/>
            <a:ext cx="10515600" cy="566928"/>
          </a:xfrm>
          <a:prstGeom prst="roundRect">
            <a:avLst/>
          </a:prstGeom>
          <a:solidFill>
            <a:srgbClr val="0F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379976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2D3EE"/>
                </a:solidFill>
                <a:latin typeface="Segoe UI"/>
              </a:rPr>
              <a:t>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379976"/>
            <a:ext cx="7315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1F5F9"/>
                </a:solidFill>
                <a:latin typeface="Segoe UI"/>
              </a:rPr>
              <a:t>Zod schemas for runtime request/response verification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4983480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2D3EE"/>
                </a:solidFill>
                <a:latin typeface="Segoe UI"/>
              </a:rPr>
              <a:t>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983480"/>
            <a:ext cx="7315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1F5F9"/>
                </a:solidFill>
                <a:latin typeface="Segoe UI"/>
              </a:rPr>
              <a:t>Node.js - Hono framework - @hono/node-server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5586984"/>
            <a:ext cx="10515600" cy="566928"/>
          </a:xfrm>
          <a:prstGeom prst="roundRect">
            <a:avLst/>
          </a:prstGeom>
          <a:solidFill>
            <a:srgbClr val="0F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586984"/>
            <a:ext cx="2743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2D3EE"/>
                </a:solidFill>
                <a:latin typeface="Segoe UI"/>
              </a:rPr>
              <a:t>Testing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5586984"/>
            <a:ext cx="73152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1F5F9"/>
                </a:solidFill>
                <a:latin typeface="Segoe UI"/>
              </a:rPr>
              <a:t>Vitest — route handlers, transformers, cache, schemas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00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TRAINPULSE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640080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Segoe UI"/>
              </a:rPr>
              <a:t>06</a:t>
            </a:r>
            <a:r>
              <a:rPr sz="1100" b="0">
                <a:solidFill>
                  <a:srgbClr val="64748B"/>
                </a:solidFill>
                <a:latin typeface="Segoe UI"/>
              </a:rPr>
              <a:t>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Segoe UI"/>
              </a:rPr>
              <a:t>API SURFACE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256032" cy="256032"/>
          </a:xfrm>
          <a:prstGeom prst="round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1887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1F5F9"/>
                </a:solidFill>
                <a:latin typeface="Segoe UI"/>
              </a:rPr>
              <a:t>Versioned REST endpoints  /api/v1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03120"/>
            <a:ext cx="3332378" cy="1554480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304288"/>
            <a:ext cx="293004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D3EE"/>
                </a:solidFill>
                <a:latin typeface="Segoe UI"/>
              </a:rPr>
              <a:t>GET /trains/:n/live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779776"/>
            <a:ext cx="293004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FB0C2"/>
                </a:solidFill>
                <a:latin typeface="Segoe UI"/>
              </a:rPr>
              <a:t>Live status, speed, location, next station &amp; delay for a 5-digit train.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9658" y="2103120"/>
            <a:ext cx="3332378" cy="1554480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30826" y="2304288"/>
            <a:ext cx="293004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D3EE"/>
                </a:solidFill>
                <a:latin typeface="Segoe UI"/>
              </a:rPr>
              <a:t>GET /trains/between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0826" y="2779776"/>
            <a:ext cx="293004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FB0C2"/>
                </a:solidFill>
                <a:latin typeface="Segoe UI"/>
              </a:rPr>
              <a:t>Direct trains running between a from and to station code.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6356" y="2103120"/>
            <a:ext cx="3332378" cy="1554480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7524" y="2304288"/>
            <a:ext cx="293004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D3EE"/>
                </a:solidFill>
                <a:latin typeface="Segoe UI"/>
              </a:rPr>
              <a:t>GET /stations/search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7524" y="2779776"/>
            <a:ext cx="293004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FB0C2"/>
                </a:solidFill>
                <a:latin typeface="Segoe UI"/>
              </a:rPr>
              <a:t>Station autocomplete by partial code or name (min 2 chars).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931920"/>
            <a:ext cx="3332378" cy="1554480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133088"/>
            <a:ext cx="293004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D3EE"/>
                </a:solidFill>
                <a:latin typeface="Segoe UI"/>
              </a:rPr>
              <a:t>GET /trains/:n/coaches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4608576"/>
            <a:ext cx="293004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FB0C2"/>
                </a:solidFill>
                <a:latin typeface="Segoe UI"/>
              </a:rPr>
              <a:t>Coach composition / rake layout for a train.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29658" y="3931920"/>
            <a:ext cx="3332378" cy="1554480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0826" y="4133088"/>
            <a:ext cx="293004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B020"/>
                </a:solidFill>
                <a:latin typeface="Segoe UI"/>
              </a:rPr>
              <a:t>GET /trains/:n/platform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0826" y="4608576"/>
            <a:ext cx="293004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FB0C2"/>
                </a:solidFill>
                <a:latin typeface="Segoe UI"/>
              </a:rPr>
              <a:t>Platform status: Confirmed / Expected / Unavailable.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6356" y="3931920"/>
            <a:ext cx="3332378" cy="1554480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7524" y="4133088"/>
            <a:ext cx="293004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D3EE"/>
                </a:solidFill>
                <a:latin typeface="Segoe UI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7524" y="4608576"/>
            <a:ext cx="2930042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FB0C2"/>
                </a:solidFill>
                <a:latin typeface="Segoe U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3977639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64748B"/>
                </a:solidFill>
                <a:latin typeface="Segoe UI"/>
              </a:rPr>
              <a:t>Status model</a:t>
            </a:r>
          </a:p>
        </p:txBody>
      </p:sp>
      <p:sp>
        <p:nvSpPr>
          <p:cNvPr id="24" name="Oval 23"/>
          <p:cNvSpPr/>
          <p:nvPr/>
        </p:nvSpPr>
        <p:spPr>
          <a:xfrm>
            <a:off x="8138160" y="4398264"/>
            <a:ext cx="128016" cy="128016"/>
          </a:xfrm>
          <a:prstGeom prst="ellipse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434340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1F5F9"/>
                </a:solidFill>
                <a:latin typeface="Segoe UI"/>
              </a:rPr>
              <a:t>On time</a:t>
            </a:r>
          </a:p>
        </p:txBody>
      </p:sp>
      <p:sp>
        <p:nvSpPr>
          <p:cNvPr id="26" name="Oval 25"/>
          <p:cNvSpPr/>
          <p:nvPr/>
        </p:nvSpPr>
        <p:spPr>
          <a:xfrm>
            <a:off x="8138160" y="4764024"/>
            <a:ext cx="128016" cy="12801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470916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1F5F9"/>
                </a:solidFill>
                <a:latin typeface="Segoe UI"/>
              </a:rPr>
              <a:t>Delayed</a:t>
            </a:r>
          </a:p>
        </p:txBody>
      </p:sp>
      <p:sp>
        <p:nvSpPr>
          <p:cNvPr id="28" name="Oval 27"/>
          <p:cNvSpPr/>
          <p:nvPr/>
        </p:nvSpPr>
        <p:spPr>
          <a:xfrm>
            <a:off x="8138160" y="5129784"/>
            <a:ext cx="128016" cy="128016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507492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F1F5F9"/>
                </a:solidFill>
                <a:latin typeface="Segoe UI"/>
              </a:rPr>
              <a:t>Disrupted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6400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TRAINPULSE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640080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Segoe UI"/>
              </a:rPr>
              <a:t>07</a:t>
            </a:r>
            <a:r>
              <a:rPr sz="1100" b="0">
                <a:solidFill>
                  <a:srgbClr val="64748B"/>
                </a:solidFill>
                <a:latin typeface="Segoe UI"/>
              </a:rPr>
              <a:t>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Segoe UI"/>
              </a:rPr>
              <a:t>BY THE NUMBERS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256032" cy="256032"/>
          </a:xfrm>
          <a:prstGeom prst="round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1887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1F5F9"/>
                </a:solidFill>
                <a:latin typeface="Segoe UI"/>
              </a:rPr>
              <a:t>Engineering snapshot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2430703" cy="1691640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243070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2D3EE"/>
                </a:solidFill>
                <a:latin typeface="Segoe U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383280"/>
            <a:ext cx="221124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9FB0C2"/>
                </a:solidFill>
                <a:latin typeface="Segoe UI"/>
              </a:rPr>
              <a:t>Platforms from one codebase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7983" y="2194560"/>
            <a:ext cx="2430703" cy="1691640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7983" y="2514600"/>
            <a:ext cx="243070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2D3EE"/>
                </a:solidFill>
                <a:latin typeface="Segoe UI"/>
              </a:rPr>
              <a:t>225+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7711" y="3383280"/>
            <a:ext cx="221124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9FB0C2"/>
                </a:solidFill>
                <a:latin typeface="Segoe UI"/>
              </a:rPr>
              <a:t>Automated tests (FE + BE)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6" y="2194560"/>
            <a:ext cx="2430703" cy="1691640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33006" y="2514600"/>
            <a:ext cx="243070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FB020"/>
                </a:solidFill>
                <a:latin typeface="Segoe UI"/>
              </a:rPr>
              <a:t>30-45s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2734" y="3383280"/>
            <a:ext cx="221124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9FB0C2"/>
                </a:solidFill>
                <a:latin typeface="Segoe UI"/>
              </a:rPr>
              <a:t>Adaptive polling &amp; cache TTL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38029" y="2194560"/>
            <a:ext cx="2430703" cy="1691640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38029" y="2514600"/>
            <a:ext cx="243070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2D3EE"/>
                </a:solidFill>
                <a:latin typeface="Segoe UI"/>
              </a:rPr>
              <a:t>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47757" y="3383280"/>
            <a:ext cx="221124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9FB0C2"/>
                </a:solidFill>
                <a:latin typeface="Segoe UI"/>
              </a:rPr>
              <a:t>Secrets in the client bundle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160520"/>
            <a:ext cx="2430703" cy="1691640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480560"/>
            <a:ext cx="243070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2D3EE"/>
                </a:solidFill>
                <a:latin typeface="Segoe UI"/>
              </a:rPr>
              <a:t>71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349240"/>
            <a:ext cx="221124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9FB0C2"/>
                </a:solidFill>
                <a:latin typeface="Segoe UI"/>
              </a:rPr>
              <a:t>TypeScript source files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7983" y="4160520"/>
            <a:ext cx="2430703" cy="1691640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27983" y="4480560"/>
            <a:ext cx="243070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2D3EE"/>
                </a:solidFill>
                <a:latin typeface="Segoe U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7711" y="5349240"/>
            <a:ext cx="221124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9FB0C2"/>
                </a:solidFill>
                <a:latin typeface="Segoe UI"/>
              </a:rPr>
              <a:t>Core REST endpoints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33006" y="4160520"/>
            <a:ext cx="2430703" cy="1691640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33006" y="4480560"/>
            <a:ext cx="243070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FB020"/>
                </a:solidFill>
                <a:latin typeface="Segoe UI"/>
              </a:rPr>
              <a:t>100%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42734" y="5349240"/>
            <a:ext cx="221124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9FB0C2"/>
                </a:solidFill>
                <a:latin typeface="Segoe UI"/>
              </a:rPr>
              <a:t>Expo Go compatibility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38029" y="4160520"/>
            <a:ext cx="2430703" cy="1691640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38029" y="4480560"/>
            <a:ext cx="243070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22D3EE"/>
                </a:solidFill>
                <a:latin typeface="Segoe UI"/>
              </a:rPr>
              <a:t>&lt;1s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47757" y="5349240"/>
            <a:ext cx="2211247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9FB0C2"/>
                </a:solidFill>
                <a:latin typeface="Segoe UI"/>
              </a:rPr>
              <a:t>Cached initial load target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6400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TRAINPULSE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640080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Segoe UI"/>
              </a:rPr>
              <a:t>08</a:t>
            </a:r>
            <a:r>
              <a:rPr sz="1100" b="0">
                <a:solidFill>
                  <a:srgbClr val="64748B"/>
                </a:solidFill>
                <a:latin typeface="Segoe UI"/>
              </a:rPr>
              <a:t>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6400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22D3EE"/>
                </a:solidFill>
                <a:latin typeface="Segoe UI"/>
              </a:rPr>
              <a:t>PRINCIPLES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417320"/>
            <a:ext cx="256032" cy="256032"/>
          </a:xfrm>
          <a:prstGeom prst="round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4440" y="118872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1F5F9"/>
                </a:solidFill>
                <a:latin typeface="Segoe UI"/>
              </a:rPr>
              <a:t>Security &amp; design discipline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194560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03120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1F5F9"/>
                </a:solidFill>
                <a:latin typeface="Segoe UI"/>
              </a:rPr>
              <a:t>Zero-trust frontend: </a:t>
            </a:r>
            <a:r>
              <a:rPr sz="1600" b="0">
                <a:solidFill>
                  <a:srgbClr val="9FB0C2"/>
                </a:solidFill>
                <a:latin typeface="Segoe UI"/>
              </a:rPr>
              <a:t>no third-party railway keys ever reach the client.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2944368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2852928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1F5F9"/>
                </a:solidFill>
                <a:latin typeface="Segoe UI"/>
              </a:rPr>
              <a:t>Error sanitization: </a:t>
            </a:r>
            <a:r>
              <a:rPr sz="1600" b="0">
                <a:solidFill>
                  <a:srgbClr val="9FB0C2"/>
                </a:solidFill>
                <a:latin typeface="Segoe UI"/>
              </a:rPr>
              <a:t>auth headers, tokens &amp; upstream keys redacted before logging or responding.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694176"/>
            <a:ext cx="146304" cy="146304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34440" y="3602736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B020"/>
                </a:solidFill>
                <a:latin typeface="Segoe UI"/>
              </a:rPr>
              <a:t>Truthful by default: </a:t>
            </a:r>
            <a:r>
              <a:rPr sz="1600" b="0">
                <a:solidFill>
                  <a:srgbClr val="9FB0C2"/>
                </a:solidFill>
                <a:latin typeface="Segoe UI"/>
              </a:rPr>
              <a:t>approximations are labeled, GPS gaps are flagged — never faked.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443984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34440" y="4352544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1F5F9"/>
                </a:solidFill>
                <a:latin typeface="Segoe UI"/>
              </a:rPr>
              <a:t>Lifecycle-aware polling: </a:t>
            </a:r>
            <a:r>
              <a:rPr sz="1600" b="0">
                <a:solidFill>
                  <a:srgbClr val="9FB0C2"/>
                </a:solidFill>
                <a:latin typeface="Segoe UI"/>
              </a:rPr>
              <a:t>pauses on background / hidden tab via AppState &amp; visibilitychange.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5193792"/>
            <a:ext cx="146304" cy="14630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5102352"/>
            <a:ext cx="9875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1F5F9"/>
                </a:solidFill>
                <a:latin typeface="Segoe UI"/>
              </a:rPr>
              <a:t>Deliberately out of scope: </a:t>
            </a:r>
            <a:r>
              <a:rPr sz="1600" b="0">
                <a:solidFill>
                  <a:srgbClr val="9FB0C2"/>
                </a:solidFill>
                <a:latin typeface="Segoe UI"/>
              </a:rPr>
              <a:t>no ticketing, PNR, seat availability or accounts.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0080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TRAINPULSE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640080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Segoe UI"/>
              </a:rPr>
              <a:t>09</a:t>
            </a:r>
            <a:r>
              <a:rPr sz="1100" b="0">
                <a:solidFill>
                  <a:srgbClr val="64748B"/>
                </a:solidFill>
                <a:latin typeface="Segoe UI"/>
              </a:rPr>
              <a:t>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D1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22960" y="987552"/>
            <a:ext cx="164592" cy="0"/>
          </a:xfrm>
          <a:prstGeom prst="bentConnector3">
            <a:avLst/>
          </a:prstGeom>
          <a:ln w="381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987552" y="784555"/>
            <a:ext cx="109728" cy="202997"/>
          </a:xfrm>
          <a:prstGeom prst="bentConnector3">
            <a:avLst/>
          </a:prstGeom>
          <a:ln w="381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1097280" y="784555"/>
            <a:ext cx="146304" cy="422453"/>
          </a:xfrm>
          <a:prstGeom prst="bentConnector3">
            <a:avLst/>
          </a:prstGeom>
          <a:ln w="381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V="1">
            <a:off x="1243584" y="729691"/>
            <a:ext cx="128016" cy="477317"/>
          </a:xfrm>
          <a:prstGeom prst="bentConnector3">
            <a:avLst/>
          </a:prstGeom>
          <a:ln w="381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371600" y="729691"/>
            <a:ext cx="109728" cy="230429"/>
          </a:xfrm>
          <a:prstGeom prst="bentConnector3">
            <a:avLst/>
          </a:prstGeom>
          <a:ln w="381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481328" y="960120"/>
            <a:ext cx="256032" cy="0"/>
          </a:xfrm>
          <a:prstGeom prst="bentConnector3">
            <a:avLst/>
          </a:prstGeom>
          <a:ln w="38100">
            <a:solidFill>
              <a:srgbClr val="22D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554480" y="850392"/>
            <a:ext cx="146304" cy="146304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4519" y="713232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1F5F9"/>
                </a:solidFill>
                <a:latin typeface="Segoe UI"/>
              </a:rPr>
              <a:t>Train</a:t>
            </a:r>
            <a:r>
              <a:rPr sz="2200" b="1">
                <a:solidFill>
                  <a:srgbClr val="22D3EE"/>
                </a:solidFill>
                <a:latin typeface="Segoe UI"/>
              </a:rPr>
              <a:t>Pulse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2D3EE"/>
                </a:solidFill>
                <a:latin typeface="Segoe UI"/>
              </a:rPr>
              <a:t>SUMMARY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</a:pPr>
            <a:r>
              <a:rPr sz="5200" b="1">
                <a:solidFill>
                  <a:srgbClr val="F1F5F9"/>
                </a:solidFill>
                <a:latin typeface="Segoe UI"/>
              </a:rPr>
              <a:t>The train tracker you can</a:t>
            </a:r>
          </a:p>
          <a:p>
            <a:pPr algn="l">
              <a:lnSpc>
                <a:spcPct val="102000"/>
              </a:lnSpc>
            </a:pPr>
            <a:r>
              <a:rPr sz="5200" b="1">
                <a:solidFill>
                  <a:srgbClr val="22D3EE"/>
                </a:solidFill>
                <a:latin typeface="Segoe UI"/>
              </a:rPr>
              <a:t>actually trust.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6344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>
                <a:solidFill>
                  <a:srgbClr val="9FB0C2"/>
                </a:solidFill>
                <a:latin typeface="Segoe UI"/>
              </a:rPr>
              <a:t>Map-first. Cross-platform. Strictly typed. Secure by design — and honest about what it does and doesn't know.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5577840"/>
            <a:ext cx="1632204" cy="384048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5577840"/>
            <a:ext cx="163220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Expo + RN Web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19756" y="5577840"/>
            <a:ext cx="1536192" cy="384048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19756" y="5577840"/>
            <a:ext cx="1536192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Hono Backend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20540" y="5577840"/>
            <a:ext cx="1152144" cy="384048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0540" y="5577840"/>
            <a:ext cx="115214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Zod DTOs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37276" y="5577840"/>
            <a:ext cx="1632204" cy="384048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37276" y="5577840"/>
            <a:ext cx="1632204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Leaflet / OSM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34072" y="5577840"/>
            <a:ext cx="1440180" cy="384048"/>
          </a:xfrm>
          <a:prstGeom prst="roundRect">
            <a:avLst/>
          </a:prstGeom>
          <a:solidFill>
            <a:srgbClr val="0F243A"/>
          </a:solidFill>
          <a:ln w="12700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34072" y="5577840"/>
            <a:ext cx="14401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1F5F9"/>
                </a:solidFill>
                <a:latin typeface="Segoe UI"/>
              </a:rPr>
              <a:t>MIT License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640080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Segoe UI"/>
              </a:rPr>
              <a:t>THANK YOU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6400800"/>
            <a:ext cx="1920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22D3EE"/>
                </a:solidFill>
                <a:latin typeface="Segoe UI"/>
              </a:rPr>
              <a:t>10</a:t>
            </a:r>
            <a:r>
              <a:rPr sz="1100" b="0">
                <a:solidFill>
                  <a:srgbClr val="64748B"/>
                </a:solidFill>
                <a:latin typeface="Segoe UI"/>
              </a:rPr>
              <a:t>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